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IncluiDev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Desenvolvimento e Avaliação de uma Plataforma Baseada em Evidências para Apoio ao Ensino de Programação para Pessoas com Deficiência Visual</a:t>
            </a:r>
          </a:p>
          <a:p/>
          <a:p>
            <a:r>
              <a:t>Autores: Lucas R. Pedro &amp; Esteice Janaina Santos Batista</a:t>
            </a:r>
          </a:p>
          <a:p>
            <a:r>
              <a:t>Faculdade de Computação – UFMS</a:t>
            </a:r>
          </a:p>
          <a:p/>
          <a:p>
            <a:r>
              <a:t>Defesa de TCC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e Motivação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ensino de programação é fortemente dependente de metáforas visuais (diagramas, blocos, indentação).</a:t>
            </a:r>
          </a:p>
          <a:p>
            <a:r>
              <a:t>Isso gera intensa sobrecarga cognitiva para estudantes cegos utilizando leitores de tela.</a:t>
            </a:r>
          </a:p>
          <a:p>
            <a:r>
              <a:t>Existem excelentes tecnologias assistivas acadêmicas, mas elas estão dispersas pela web.</a:t>
            </a:r>
          </a:p>
          <a:p>
            <a:r>
              <a:t>A fragmentação dificulta o trabalho de educadores e alunos no planejamento de ensino.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de Pesquisa e 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Questão: Como centralizar, classificar e recomendar de forma acessível essas soluções educacionais?</a:t>
            </a:r>
          </a:p>
          <a:p>
            <a:r>
              <a:t>Objetivo Geral: Construir o repositório 'IncluiDev'.</a:t>
            </a:r>
          </a:p>
          <a:p>
            <a:r>
              <a:t>Objetivos Específicos:</a:t>
            </a:r>
          </a:p>
          <a:p>
            <a:pPr lvl="1"/>
            <a:r>
              <a:t>Organizar recursos em uma taxonomia</a:t>
            </a:r>
          </a:p>
          <a:p>
            <a:pPr lvl="1"/>
            <a:r>
              <a:t>Garantir acessibilidade (WCAG 2.1 AA)</a:t>
            </a:r>
          </a:p>
          <a:p>
            <a:pPr lvl="1"/>
            <a:r>
              <a:t>Criar o 'Assistente Guiado' (Busca Orientada)</a:t>
            </a:r>
          </a:p>
          <a:p>
            <a:pPr lvl="1"/>
            <a:r>
              <a:t>Validar a usabilidade e a arquitetura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Fundamentação Teórica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respostas da comunidade para o ensino acessível convergem em:</a:t>
            </a:r>
          </a:p>
          <a:p>
            <a:pPr lvl="1"/>
            <a:r>
              <a:t>Abordagens Tangíveis (Hardware)</a:t>
            </a:r>
          </a:p>
          <a:p>
            <a:pPr lvl="2"/>
            <a:r>
              <a:t>Retirar o aluno da tela. Ex: Code Jumper.</a:t>
            </a:r>
          </a:p>
          <a:p>
            <a:pPr lvl="1"/>
            <a:r>
              <a:t>Abordagens de Software</a:t>
            </a:r>
          </a:p>
          <a:p>
            <a:pPr lvl="2"/>
            <a:r>
              <a:t>Linguagens baseadas em evidências de percepção sonora (Ex: Quorum).</a:t>
            </a:r>
          </a:p>
          <a:p>
            <a:r>
              <a:t>Essas duas grandes abordagens foram catalogadas como recursos no repositório.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Solução: Portal IncluiDev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Arquitetura: Single Page Application em React e Node.js.</a:t>
            </a:r>
          </a:p>
          <a:p>
            <a:r>
              <a:t>Acervo inicial de 34 recursos fundamentais (Papers, ferramentas, normas técnicas).</a:t>
            </a:r>
          </a:p>
          <a:p>
            <a:r>
              <a:t>Desenvolvimento com 'Acessibilidade Nativa'.</a:t>
            </a:r>
          </a:p>
          <a:p>
            <a:pPr lvl="1"/>
            <a:r>
              <a:t>Uso de atributos dinâmicos WAI-ARIA visando compatibilidade máxima com NVDA.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Inovação: O Assistente Guiado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usuário de leitor de tela não precisa ler longas tabelas de dados.</a:t>
            </a:r>
          </a:p>
          <a:p>
            <a:r>
              <a:t>Busca Dinâmica por Perfil de Usuário:</a:t>
            </a:r>
          </a:p>
          <a:p>
            <a:pPr lvl="1"/>
            <a:r>
              <a:t>O sistema pergunta se o usuário é Estudante, Professor, Pesquisador ou Desenvolvedor.</a:t>
            </a:r>
          </a:p>
          <a:p>
            <a:pPr lvl="1"/>
            <a:r>
              <a:t>Com mais 2 perguntas sobre o objetivo, o Motor de Inferência cruza tags semânticas.</a:t>
            </a:r>
          </a:p>
          <a:p>
            <a:pPr lvl="1"/>
            <a:r>
              <a:t>Resultado limpo, contendo apenas recomendações perfeitamente aderentes à necessidade.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Validação 1: Acessibilidade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Auditoria Automatizada:</a:t>
            </a:r>
          </a:p>
          <a:p>
            <a:pPr lvl="1"/>
            <a:r>
              <a:t>Lighthouse: Score 96/100 para Acessibilidade Desktop/Mobile.</a:t>
            </a:r>
          </a:p>
          <a:p>
            <a:pPr lvl="1"/>
            <a:r>
              <a:t>WAVE: Nenhum erro estrutural crítico.</a:t>
            </a:r>
          </a:p>
          <a:p>
            <a:r>
              <a:t>Auditoria Manual:</a:t>
            </a:r>
          </a:p>
          <a:p>
            <a:pPr lvl="1"/>
            <a:r>
              <a:t>Navegação fluida sem 'Keyboard Traps'.</a:t>
            </a:r>
          </a:p>
          <a:p>
            <a:pPr lvl="1"/>
            <a:r>
              <a:t>Uso de aria-live='assertive' notifica as mutações da tela instantaneamente para o leitor de tela.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Validação 2: Simulação por Agentes de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Avaliação Heurística Preliminar (Metodologia embasada em Seshadri et al., 2026).</a:t>
            </a:r>
          </a:p>
          <a:p>
            <a:r>
              <a:t>Utilização de Grandes Modelos de Linguagem (LLMs) interpretando as Personas.</a:t>
            </a:r>
          </a:p>
          <a:p>
            <a:r>
              <a:t>O LLM foi exposto à representação textual das telas e forçado a preencher a System Usability Scale (SUS) e o TAM.</a:t>
            </a:r>
          </a:p>
          <a:p>
            <a:r>
              <a:t>A IA atuou como um 'Filtro de Qualidade' preparatório para garantir que a lógica das tags faz sentido.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da Validação Lógica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Todos os perfis completaram a jornada guiada sem bloqueios ou rotas vazias.</a:t>
            </a:r>
          </a:p>
          <a:p>
            <a:r>
              <a:t>A utilidade percebida (TAM) na geração das dissertações foi altíssima:</a:t>
            </a:r>
          </a:p>
          <a:p>
            <a:pPr lvl="1"/>
            <a:r>
              <a:t>Estudantes reportaram não precisarem clicar por dezenas de links irrelevantes.</a:t>
            </a:r>
          </a:p>
          <a:p>
            <a:pPr lvl="1"/>
            <a:r>
              <a:t>Pesquisadores consideraram a interface mais ágil que buscas booleanas.</a:t>
            </a:r>
          </a:p>
          <a:p>
            <a:r>
              <a:t>Nota Metodológica: Assumimos os dados quantitativos apenas como validação de fluxo lógico prévio, cientes de que IAs não sentem a fadiga sensorial orgânica.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IncluiDev consolida, de fato, a teoria fragmentada num portal acessível.</a:t>
            </a:r>
          </a:p>
          <a:p>
            <a:r>
              <a:t>O Assistente Guiado atingiu seu propósito heurístico de reduzir a carga cognitiva, fornecendo recomendação baseada em necessidade.</a:t>
            </a:r>
          </a:p>
          <a:p>
            <a:r>
              <a:t>O desenvolvimento do sistema manteve rígida conformidade aos padrões estabelecidos pela W3C (WCAG 2.1).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e Trabalhos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Limitação Principal: Os testes foram baseados na simulação de agentes de IA.</a:t>
            </a:r>
          </a:p>
          <a:p>
            <a:r>
              <a:t>Trabalhos Futuros:</a:t>
            </a:r>
          </a:p>
          <a:p>
            <a:pPr lvl="1"/>
            <a:r>
              <a:t>Execução de testes empíricos com grupos reais (Estudantes PcDV e Educadores).</a:t>
            </a:r>
          </a:p>
          <a:p>
            <a:pPr lvl="1"/>
            <a:r>
              <a:t>Expansão da base de recursos através de curadoria colaborativa.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