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 a todos. Agradeço a presença da banca avaliadora. Vou apresentar o trabalho IncluiDev: Desenvolvimento e Avaliação de uma Plataforma Baseada em Evidências para Apoio ao Ensino de Programação para Pessoas com Deficiência Visual, orientado pela professora Esteice Janaina.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apresentação segue seis blocos: o contexto e o problema de pesquisa, o referencial teórico, o método, uma visão geral do sistema construído, os resultados — separados em acessibilidade e validação com agentes de IA — e, por fim, a discussão e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ensino de programação depende fortemente de metáforas visuais: diagramas de fluxo, blocos coloridos, indentação espacial. Para uma pessoa com deficiência visual usando leitor de tela, isso significa memorizar a estrutura lógica do código enquanto ouve linha por linha — uma sobrecarga cognitiva real, documentada na literatura. Soluções como a linguagem Quorum e o Code Jumper existem, mas estão fragmentadas pela web, sem um ponto central de acesso.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nos leva à pergunta central: como centralizar, classificar e recomendar de forma acessível metodologias, ferramentas e pesquisas sobre ensino de programação para PcDV? O objetivo geral foi construir e avaliar um portal que funcione como repositório interativo. Os objetivos específicos foram quatro: organizar os recursos em uma taxonomia coerente, garantir conformidade com WCAG 2.1 nível AA, implementar um sistema de recomendação por perfil — o Assistente Guiado — e avaliar usabilidade, aceitação e acessibilidade com métodos e escalas padronizados.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literatura converge em duas estratégias distintas: adaptar ferramentas já consolidadas, como o VS Code com leitores de tela, ou criar ambientes e linguagens desde a origem pensando em acessibilidade, como a própria Quorum e o Code Jumper. Essas referências, junto com as diretrizes WCAG e os instrumentos SUS e TAM, formaram a base teórica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pesquisa é de natureza aplicada, com métodos mistos. Ela se estruturou em três fases: o desenvolvimento do repositório em si, a construção do Assistente Guiado, e a avaliação do sistema — que combinou auditorias automatizadas, verificação manual e, como etapa preliminar, uma simulação com agentes de IA antes dos testes empíricos futuros com usuários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tela inicial do portal. Construído como uma Single Page Application em React e Vite, ele consolidou 34 recursos — entre ferramentas, artigos e guias — organizados em uma taxonomia de duas dimensões: nível de ensino e público-alvo. A acessibilidade foi parte da concepção desde o início, com atributos WAI-ARIA nativos, não adicionados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vez de uma listagem estática de filtros, o usuário se autoidentifica entre quatro perfis — Estudante, Professor, Pesquisador ou Desenvolvedor — responde a perguntas direcionadas ao seu objetivo, e o sistema compara essas respostas com as tags dos conteúdos cadastrados, devolvendo recomendações sem sobrecarregar quem depende de tecnologia assistiva.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 auditorias automatizadas, o Lighthouse apontou 96 de 100 no desktop e 95 no mobile; o WAVE não encontrou erros estruturais. Mas é importante frisar: ferramentas automatizadas capturam, em média, só cerca de 40% dos erros reais de acessibilidade. Por isso a auditoria manual — navegação por teclado, leitura com NVDA, verificação de aria-live — foi essencial, e confirmou que não há armadilhas de foco e que as mudanças de tela são anunciadas corretamente.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etapa preliminar à validação empírica, simulamos as quatro personas com agentes de IA, que responderam de forma qualitativa às perguntas do SUS e do TAM — não como uma nota de 1 a 5, mas com justificativas dissertativas, todas documentadas publicamente no GitHub do projeto. Um padrão temático interessante emergiu: Estudante, Professor e Pesquisador destacaram, de formas diferentes, a redução do esforço de busca; já o Desenvolvedor valorizou mais a completude técnica das informações. Isso é tratado explicitamente como um indicador heurístico, não como medida psicométrica — a literatura recente, como Seshadri et al. (2026), mostra que agentes de IA são proxies não confiáveis para usuários reais, e adotamos essa ressalva integralmente.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conjunto, os resultados indicam que a arquitetura lógica do IncluiDev é coesa e que a navegação por perfil reduz o esforço de busca — mas essa validação preliminar não substitui a experiência humana real. Ela serviu como um filtro de qualidade antes da etapa empírica.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IncluiDev demonstra que é possível centralizar, com rigor de acessibilidade, recursos hoje dispersos pela web. As principais limitações desta fase são justamente a ausência de testes com usuários reais — pelo prazo da pesquisa — e o fato de ferramentas automatizadas cobrirem só uma fração dos problemas reais de interface. Por isso, o trabalho futuro mais importante é testar com pessoas reais, especialmente PcDV, incluindo tanto estudantes quanto professores, e comparar os resultados simulados de SUS/TAM com avaliações orgânicas.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Obrigado pela atenção. O código-fonte, os artefatos de validação e o sistema em produção estão linkados aqui.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31A3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31A3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5" name="Image 0" descr="/home/claude/pptx_build/icons/universal_acce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0241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IncluiDev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 Avaliação de uma Plataforma Baseada em Evidências para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ao Ensino de Programação para Pessoas com Deficiência Visual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19050">
            <a:solidFill>
              <a:srgbClr val="3945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617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R. Pedro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Orientadora: Esteice Janaina Santos Batista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de Computação — Universidade Federal de Mato Grosso do Sul (UFMS)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075688"/>
            <a:ext cx="603504" cy="603504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7" name="Image 0" descr="/home/claude/pptx_build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311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Contexto e Problema de Pesquisa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45920" y="23134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ensino de programação ainda exclui PcDV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2075688"/>
            <a:ext cx="603504" cy="603504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12" name="Image 1" descr="/home/claude/pptx_build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311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Referencial Teórico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315200" y="23134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estratégias da literatura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2004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3493008"/>
            <a:ext cx="603504" cy="603504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17" name="Image 2" descr="/home/claude/pptx_build/icons/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4845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364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Método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45920" y="37307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repositório e o Assistente Guiado foram construídos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09360" y="320040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65392" y="3493008"/>
            <a:ext cx="603504" cy="603504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22" name="Image 3" descr="/home/claude/pptx_build/icons/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64845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3364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O Sistema IncluiDev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315200" y="37307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plataforma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6177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96112" y="4910328"/>
            <a:ext cx="603504" cy="603504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27" name="Image 4" descr="/home/claude/pptx_build/icons/clipbo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06577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4782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Resultados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1645920" y="51480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e validação com agentes de IA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309360" y="461772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65392" y="4910328"/>
            <a:ext cx="603504" cy="603504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32" name="Image 5" descr="/home/claude/pptx_build/icons/lightbulb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5065776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15200" y="4782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Discussão e Conclusão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7315200" y="51480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achados significam e os próximos passos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ainda fala a língua dos olhos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" name="Image 0" descr="/home/claude/pptx_build/icons/puzz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9568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7393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Barreiras visuais estruturais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12140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fluxo, blocos coloridos e indentação espacial — pilares do ensino tradicional de lógica.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0" name="Image 1" descr="/home/claude/pptx_build/icons/headphon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37413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912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Sobrecarga cognitiva real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53872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usa leitor de tela precisa memorizar a estrutura lógica enquanto ouve o código linha por linha [Baker et al. 2015].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663440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4" name="Image 2" descr="/home/claude/pptx_build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7914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60857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fragmentados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9560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Quorum, Code Jumper e outras soluções existem, mas estão dispersas pela literatura e pela web.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772400" y="178308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1B2541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80467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9" name="Text 14"/>
          <p:cNvSpPr/>
          <p:nvPr/>
        </p:nvSpPr>
        <p:spPr>
          <a:xfrm>
            <a:off x="8138160" y="27432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programador vidente vê a estrutura de um laço por meio da indentação espacial. Um usuário de leitor de tela precisa reconstruir essa estrutura mentalmente, ouvindo linha por linha.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13816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 et al. (2019)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de pesquisa e objetivos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8EEF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83080"/>
            <a:ext cx="10241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i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centralizar, classificar e recomendar de forma acessível metodologias, ferramentas e pesquisas sobre o ensino de programação para PcDV?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 avaliar um portal web dinâmico e centralizado que funcione como repositório interativo de práticas, ferramentas e estudos voltados ao ensino de programação para PcDV.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35661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os recursos em uma taxonomia coerente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conformidade com a WCAG 2.1, nível AA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 Assistente Guiado, por perfil de usuário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usabilidade, aceitação e acessibilidade com métodos e escalas padronizados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REFERENCIAL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estratégias na literatura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057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Adaptar o que já existe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Tornar ferramentas consolidadas no mercado compatíveis com tecnologia assistiva.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com leitores de tela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e modos de acessibilidade nativos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Rogge (2023); Microsoft (2024)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3520440"/>
          </a:xfrm>
          <a:prstGeom prst="roundRect">
            <a:avLst>
              <a:gd name="adj" fmla="val 259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057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desde a origem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6060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linguagens e ambientes pensando em acessibilidade desde o primeiro requisito.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3383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 Language — sintaxe evidence-based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Jumper — programação física, sem tela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Stefik et al. (2019); Morrison et al. (2019)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MÉTODO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aplicada, métodos mistos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7" name="Image 0" descr="/home/claude/pptx_build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500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Desenvolvimento do Repositório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6012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em React + Vite + Node.js. Taxonomia bidimensional (Nível de Ensino × Público-Alvo). WAI-ARIA nativo desde a concepção.</a:t>
            </a:r>
            <a:endParaRPr lang="en-US" sz="1200" dirty="0"/>
          </a:p>
        </p:txBody>
      </p:sp>
      <p:pic>
        <p:nvPicPr>
          <p:cNvPr id="10" name="Image 1" descr="/home/claude/pptx_build/icons/arrow_righ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3611880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26280" y="187452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1B2541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219456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3" name="Image 2" descr="/home/claude/pptx_build/icons/site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35000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Construção do Assistente Guiado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84632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recomendação por autoidentificação de perfil, com comparação de tags em tempo real.</a:t>
            </a:r>
            <a:endParaRPr lang="en-US" sz="1200" dirty="0"/>
          </a:p>
        </p:txBody>
      </p:sp>
      <p:pic>
        <p:nvPicPr>
          <p:cNvPr id="16" name="Image 3" descr="/home/claude/pptx_build/icons/arrow_righ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3611880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412480" y="187452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732520" y="2194560"/>
            <a:ext cx="640080" cy="64008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19" name="Image 4" descr="/home/claude/pptx_build/icons/clipbo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235000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32520" y="29718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Avaliação do Sistema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8732520" y="370332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automatizadas + manuais, e simulação preliminar por agentes de IA antes da validação empírica futura.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Portal IncluiDev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402367" y="1691640"/>
            <a:ext cx="4365961" cy="4517136"/>
          </a:xfrm>
          <a:prstGeom prst="roundRect">
            <a:avLst>
              <a:gd name="adj" fmla="val 1466"/>
            </a:avLst>
          </a:prstGeom>
          <a:solidFill>
            <a:srgbClr val="FFFFFF"/>
          </a:solidFill>
          <a:ln w="12700">
            <a:solidFill>
              <a:srgbClr val="D7DCE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pic>
        <p:nvPicPr>
          <p:cNvPr id="6" name="Image 0" descr="/home/claude/tcc_imgs/fig3_tela_in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2095" y="1801368"/>
            <a:ext cx="4146505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20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057400" y="2084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catalogados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2057400" y="3044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taxonomia: Nível × Público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3840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057400" y="40050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usuário atendidos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49834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em React + Vite, com WAI-ARIA incorporado desde a concepção arquitetural — não como ajuste posterior.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Assistente Guiado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8EEF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80260"/>
            <a:ext cx="457200" cy="45720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7" name="Image 0" descr="/home/claude/pptx_build/icons/grad_c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1991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288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Estudante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337560" y="182880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8EEFB"/>
          </a:solidFill>
          <a:ln/>
        </p:spPr>
      </p:sp>
      <p:sp>
        <p:nvSpPr>
          <p:cNvPr id="10" name="Shape 7"/>
          <p:cNvSpPr/>
          <p:nvPr/>
        </p:nvSpPr>
        <p:spPr>
          <a:xfrm>
            <a:off x="3502152" y="2080260"/>
            <a:ext cx="457200" cy="45720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11" name="Image 1" descr="/home/claude/pptx_build/icons/teach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1991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82880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8EE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04672" y="3268980"/>
            <a:ext cx="457200" cy="45720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15" name="Image 2" descr="/home/claude/pptx_build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38785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0175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Pesquisador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3337560" y="301752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E8EEFB"/>
          </a:solidFill>
          <a:ln/>
        </p:spPr>
      </p:sp>
      <p:sp>
        <p:nvSpPr>
          <p:cNvPr id="18" name="Shape 13"/>
          <p:cNvSpPr/>
          <p:nvPr/>
        </p:nvSpPr>
        <p:spPr>
          <a:xfrm>
            <a:off x="3502152" y="3268980"/>
            <a:ext cx="457200" cy="45720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19" name="Image 3" descr="/home/claude/pptx_build/icons/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338785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14800" y="30175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Desenvolvedor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40080" y="4023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perfis identificados na literatura, cada um com perguntas direcionadas ao seu objetivo.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0" y="18288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01968" y="20574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18"/>
          <p:cNvSpPr/>
          <p:nvPr/>
        </p:nvSpPr>
        <p:spPr>
          <a:xfrm>
            <a:off x="660196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22376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de Perfil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223760" y="22677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Autoidentificação entre os 4 perfis</a:t>
            </a:r>
            <a:endParaRPr lang="en-US" sz="1080" dirty="0"/>
          </a:p>
        </p:txBody>
      </p:sp>
      <p:sp>
        <p:nvSpPr>
          <p:cNvPr id="27" name="Shape 21"/>
          <p:cNvSpPr/>
          <p:nvPr/>
        </p:nvSpPr>
        <p:spPr>
          <a:xfrm>
            <a:off x="8961120" y="2743200"/>
            <a:ext cx="0" cy="164592"/>
          </a:xfrm>
          <a:prstGeom prst="line">
            <a:avLst/>
          </a:prstGeom>
          <a:noFill/>
          <a:ln w="19050">
            <a:solidFill>
              <a:srgbClr val="B9C2D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0" y="2907792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601968" y="3136392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4"/>
          <p:cNvSpPr/>
          <p:nvPr/>
        </p:nvSpPr>
        <p:spPr>
          <a:xfrm>
            <a:off x="6601968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223760" y="2999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Direcionadas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223760" y="33467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 sobre o objetivo</a:t>
            </a:r>
            <a:endParaRPr lang="en-US" sz="1080" dirty="0"/>
          </a:p>
        </p:txBody>
      </p:sp>
      <p:sp>
        <p:nvSpPr>
          <p:cNvPr id="33" name="Shape 27"/>
          <p:cNvSpPr/>
          <p:nvPr/>
        </p:nvSpPr>
        <p:spPr>
          <a:xfrm>
            <a:off x="8961120" y="3822192"/>
            <a:ext cx="0" cy="164592"/>
          </a:xfrm>
          <a:prstGeom prst="line">
            <a:avLst/>
          </a:prstGeom>
          <a:noFill/>
          <a:ln w="19050">
            <a:solidFill>
              <a:srgbClr val="B9C2D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00800" y="3986784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601968" y="4215384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0"/>
          <p:cNvSpPr/>
          <p:nvPr/>
        </p:nvSpPr>
        <p:spPr>
          <a:xfrm>
            <a:off x="6601968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7223760" y="40782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de Tags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7223760" y="4425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compara respostas × catálogo</a:t>
            </a:r>
            <a:endParaRPr lang="en-US" sz="1080" dirty="0"/>
          </a:p>
        </p:txBody>
      </p:sp>
      <p:sp>
        <p:nvSpPr>
          <p:cNvPr id="39" name="Shape 33"/>
          <p:cNvSpPr/>
          <p:nvPr/>
        </p:nvSpPr>
        <p:spPr>
          <a:xfrm>
            <a:off x="8961120" y="4901184"/>
            <a:ext cx="0" cy="164592"/>
          </a:xfrm>
          <a:prstGeom prst="line">
            <a:avLst/>
          </a:prstGeom>
          <a:noFill/>
          <a:ln w="19050">
            <a:solidFill>
              <a:srgbClr val="B9C2DA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400800" y="5065776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B2541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601968" y="5294376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2" name="Text 36"/>
          <p:cNvSpPr/>
          <p:nvPr/>
        </p:nvSpPr>
        <p:spPr>
          <a:xfrm>
            <a:off x="6601968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7223760" y="5157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</a:t>
            </a:r>
            <a:endParaRPr lang="en-US" sz="1350" dirty="0"/>
          </a:p>
        </p:txBody>
      </p:sp>
      <p:sp>
        <p:nvSpPr>
          <p:cNvPr id="44" name="Text 38"/>
          <p:cNvSpPr/>
          <p:nvPr/>
        </p:nvSpPr>
        <p:spPr>
          <a:xfrm>
            <a:off x="7223760" y="5504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personalizados, sem ruído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Acessibilidade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96/100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— Desktop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95/100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29768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— Mobile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78308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95528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estruturais (WAVE)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manual confirmou: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por teclado sem keyboard traps, e regiões aria-live="assertive" anunciando corretamente as mudanças de tela do Assistente Guiado para leitores como o NVDA.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DF1DF"/>
          </a:solidFill>
          <a:ln/>
        </p:spPr>
      </p:sp>
      <p:pic>
        <p:nvPicPr>
          <p:cNvPr id="16" name="Image 0" descr="/home/claude/pptx_build/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2064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54480" y="4956048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automatizadas capturam, em média, só ~40% dos erros reais de acessibilidade.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 auditoria manual individual foi etapa indispensável do processo — não apenas um complemento.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Simulatória por Agentes de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personas simuladas responderam, de forma qualitativa e dissertativa, aos itens do SUS e do TAM — não como nota de 1 a 5. Todo o registro está público no GitHub do projeto.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TEMÁTICO IDENTIFICADO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pic>
        <p:nvPicPr>
          <p:cNvPr id="8" name="Image 0" descr="/home/claude/pptx_build/icons/grad_c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310896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520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Estudante, Professor, Pesquisador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96112" y="39502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esforço de busca e leitura sequencial como benefício central.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06240" y="288036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pic>
        <p:nvPicPr>
          <p:cNvPr id="12" name="Image 1" descr="/home/claude/pptx_build/icons/cod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31089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2272" y="3520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Desenvolvedor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462272" y="39502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distinto: completude técnica e ausência de ruído informacional.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72400" y="2880360"/>
            <a:ext cx="374904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pic>
        <p:nvPicPr>
          <p:cNvPr id="16" name="Image 2" descr="/home/claude/pptx_build/icons/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31089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28432" y="3520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Implicação futura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28432" y="395020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personalizar critérios de relevância por perfil em próximas iterações.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DF1DF"/>
          </a:solidFill>
          <a:ln/>
        </p:spPr>
      </p:sp>
      <p:pic>
        <p:nvPicPr>
          <p:cNvPr id="20" name="Image 3" descr="/home/claude/pptx_build/icons/warn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937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029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heurístico, não medida psicométrica.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Seshadri et al. (2026) demonstram que agentes de IA são proxies não confiáveis para usuários reais — ressalva adotada integralmente nesta pesquisa.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SÍNTESE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6" name="Image 0" descr="/home/claude/pptx_build/icons/check_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logicamente coesa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23113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persona simulada reportou obstáculos estruturais de navegação ou compreensão do fluxo.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10" name="Image 1" descr="/home/claude/pptx_build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por perfil reduz esforço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17320" y="346557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altos escores qualitativos sugerem que a navegação orientada facilita o acesso à informação.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1B2541"/>
          </a:solidFill>
          <a:ln/>
        </p:spPr>
      </p:sp>
      <p:pic>
        <p:nvPicPr>
          <p:cNvPr id="14" name="Image 2" descr="/home/claude/pptx_build/icons/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262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preliminar, não substitutiva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470001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simulação por IA atua como filtro de qualidade — a experiência humana real ainda está por vir.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SÍNTESE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e Trabalhos Futuros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 bidimensional para 34 recursos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acessível desde a concepção (WCAG 2.1 AA)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Guiado reduzindo sobrecarga de navegação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DESTA FASE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—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testes com usuários reais (prazo da pesquisa)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—"/>
            </a:pPr>
            <a:r>
              <a:rPr lang="en-US" sz="1300" dirty="0">
                <a:solidFill>
                  <a:srgbClr val="1E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automatizadas cobrem só uma fração dos erros reais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B2541"/>
          </a:solidFill>
          <a:ln/>
          <a:effectLst>
            <a:outerShdw sx="100000" sy="100000" kx="0" ky="0" algn="bl" rotWithShape="0" blurRad="127000" dist="38100" dir="5400000">
              <a:srgbClr val="1B2541">
                <a:alpha val="12000"/>
              </a:srgbClr>
            </a:outerShdw>
          </a:effectLst>
        </p:spPr>
      </p:sp>
      <p:pic>
        <p:nvPicPr>
          <p:cNvPr id="10" name="Image 0" descr="/home/claude/pptx_build/icons/user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0574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7804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TRABALHOS FUTUROS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78040" y="2697480"/>
            <a:ext cx="4160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empíricos com PcDV — estudantes e docentes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resultados simulados de SUS/TAM com avaliações reais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continuamente a base de recursos catalogados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Aprimorar heurísticas de recomendação do Assistente Guiado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31A3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31A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são bem-vindas.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/home/claude/pptx_build/icons/githu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36393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4838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 ARTEFATOS DE VALIDAÇÃO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37216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github.com/lucasmantovany/incluidev-portal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1" name="Image 1" descr="/home/claude/pptx_build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3708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2153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PRODUÇÃO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463040" y="44531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incluidev-portal.vercel.app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5" name="Image 2" descr="/home/claude/pptx_build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10235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946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5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463040" y="51846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lucas.pedro@ufms.br  ·  esteic.batista@ufms.br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IncluiDev - Apresentacao TCC</dc:title>
  <dc:subject>PptxGenJS Presentation</dc:subject>
  <dc:creator>Lucas R. Pedro</dc:creator>
  <cp:lastModifiedBy>Lucas R. Pedro</cp:lastModifiedBy>
  <cp:revision>1</cp:revision>
  <dcterms:created xsi:type="dcterms:W3CDTF">2026-06-24T03:43:46Z</dcterms:created>
  <dcterms:modified xsi:type="dcterms:W3CDTF">2026-06-24T03:43:46Z</dcterms:modified>
</cp:coreProperties>
</file>